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1" d="100"/>
          <a:sy n="61" d="100"/>
        </p:scale>
        <p:origin x="12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3C53C-8B70-4CFD-9DC3-619ACA1AF516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FED6-70EC-4D22-AD3A-10DDCBB8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45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3C53C-8B70-4CFD-9DC3-619ACA1AF516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FED6-70EC-4D22-AD3A-10DDCBB8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70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3C53C-8B70-4CFD-9DC3-619ACA1AF516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FED6-70EC-4D22-AD3A-10DDCBB8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2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3C53C-8B70-4CFD-9DC3-619ACA1AF516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FED6-70EC-4D22-AD3A-10DDCBB8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05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3C53C-8B70-4CFD-9DC3-619ACA1AF516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FED6-70EC-4D22-AD3A-10DDCBB8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51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3C53C-8B70-4CFD-9DC3-619ACA1AF516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FED6-70EC-4D22-AD3A-10DDCBB8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9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3C53C-8B70-4CFD-9DC3-619ACA1AF516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FED6-70EC-4D22-AD3A-10DDCBB8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0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3C53C-8B70-4CFD-9DC3-619ACA1AF516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FED6-70EC-4D22-AD3A-10DDCBB8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6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3C53C-8B70-4CFD-9DC3-619ACA1AF516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FED6-70EC-4D22-AD3A-10DDCBB8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36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3C53C-8B70-4CFD-9DC3-619ACA1AF516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FED6-70EC-4D22-AD3A-10DDCBB8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89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3C53C-8B70-4CFD-9DC3-619ACA1AF516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FED6-70EC-4D22-AD3A-10DDCBB8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15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3C53C-8B70-4CFD-9DC3-619ACA1AF516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DFED6-70EC-4D22-AD3A-10DDCBB8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47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Implementacija estimacije stanja: kompleksne koordinate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65583" y="5575217"/>
            <a:ext cx="9144000" cy="1655762"/>
          </a:xfrm>
        </p:spPr>
        <p:txBody>
          <a:bodyPr/>
          <a:lstStyle/>
          <a:p>
            <a:r>
              <a:rPr lang="bs-Latn-BA" dirty="0" smtClean="0"/>
              <a:t>Vedad Mulaosmanović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816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995" y="1450530"/>
            <a:ext cx="5173937" cy="40743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277" y="380461"/>
            <a:ext cx="72836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sz="4400" b="1" dirty="0" smtClean="0"/>
              <a:t>Korisnički interfejs </a:t>
            </a:r>
            <a:endParaRPr lang="en-US" sz="4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12269" y="3812102"/>
            <a:ext cx="49570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</a:t>
            </a:r>
            <a:r>
              <a:rPr lang="bs-Latn-BA" dirty="0" smtClean="0"/>
              <a:t>č</a:t>
            </a:r>
            <a:r>
              <a:rPr lang="en-US" dirty="0" smtClean="0"/>
              <a:t>itaj sistem otvara dijalog za izbor mre</a:t>
            </a:r>
            <a:r>
              <a:rPr lang="bs-Latn-BA" dirty="0" smtClean="0"/>
              <a:t>ž</a:t>
            </a:r>
            <a:r>
              <a:rPr lang="en-US" dirty="0" smtClean="0"/>
              <a:t>e, </a:t>
            </a:r>
            <a:endParaRPr lang="bs-Latn-BA" dirty="0" smtClean="0"/>
          </a:p>
          <a:p>
            <a:r>
              <a:rPr lang="en-US" dirty="0" smtClean="0"/>
              <a:t>zatim u</a:t>
            </a:r>
            <a:r>
              <a:rPr lang="bs-Latn-BA" dirty="0" smtClean="0"/>
              <a:t>č</a:t>
            </a:r>
            <a:r>
              <a:rPr lang="en-US" dirty="0" smtClean="0"/>
              <a:t>itava postoje</a:t>
            </a:r>
            <a:r>
              <a:rPr lang="bs-Latn-BA" dirty="0" smtClean="0"/>
              <a:t>ć</a:t>
            </a:r>
            <a:r>
              <a:rPr lang="en-US" dirty="0" smtClean="0"/>
              <a:t>i fajl </a:t>
            </a:r>
            <a:endParaRPr lang="bs-Latn-BA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dirty="0"/>
              <a:t>D</a:t>
            </a:r>
            <a:r>
              <a:rPr lang="en-US" dirty="0" smtClean="0"/>
              <a:t>ijagram mre</a:t>
            </a:r>
            <a:r>
              <a:rPr lang="bs-Latn-BA" dirty="0" smtClean="0"/>
              <a:t>ž</a:t>
            </a:r>
            <a:r>
              <a:rPr lang="en-US" dirty="0" smtClean="0"/>
              <a:t>e se prikazuje odmah (bez procijenjenih napona).</a:t>
            </a:r>
            <a:endParaRPr lang="bs-Latn-BA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Izmjeni podatke otvara tabelu svih mjerenja za ru</a:t>
            </a:r>
            <a:r>
              <a:rPr lang="bs-Latn-BA" dirty="0" smtClean="0"/>
              <a:t>č</a:t>
            </a:r>
            <a:r>
              <a:rPr lang="en-US" dirty="0" smtClean="0"/>
              <a:t>nu izmjenu (realni/imaginarni dio i sigma).</a:t>
            </a:r>
            <a:endParaRPr lang="bs-Latn-BA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dirty="0" smtClean="0"/>
              <a:t>Estimiraj – estimira stanje i prikazuje grafike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098" y="1748991"/>
            <a:ext cx="3571610" cy="120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41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7610"/>
            <a:ext cx="3915083" cy="53445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889" y="945064"/>
            <a:ext cx="6409111" cy="5049602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4130566" y="2806262"/>
            <a:ext cx="1466193" cy="11508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33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ght Arrow 7"/>
          <p:cNvSpPr/>
          <p:nvPr/>
        </p:nvSpPr>
        <p:spPr>
          <a:xfrm>
            <a:off x="4130566" y="2806262"/>
            <a:ext cx="1466193" cy="11508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0" y="945064"/>
            <a:ext cx="3882646" cy="521838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759" y="1008317"/>
            <a:ext cx="6591205" cy="515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43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960" y="1466193"/>
            <a:ext cx="9831185" cy="4793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1931" y="141890"/>
            <a:ext cx="5659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sz="4000" b="1" dirty="0" smtClean="0"/>
              <a:t>Arhitektura softvera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092203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31929" y="346842"/>
            <a:ext cx="5659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s-Latn-BA" sz="4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Writingerov</a:t>
            </a:r>
            <a:r>
              <a:rPr kumimoji="0" lang="bs-Latn-BA" sz="40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kalkulus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39" y="2070013"/>
            <a:ext cx="9935429" cy="350557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74638" indent="-274638">
              <a:lnSpc>
                <a:spcPct val="110000"/>
              </a:lnSpc>
              <a:spcAft>
                <a:spcPts val="1600"/>
              </a:spcAft>
              <a:buClr>
                <a:srgbClr val="1E2761"/>
              </a:buClr>
              <a:buFont typeface="Arial"/>
              <a:buChar char="•"/>
            </a:pPr>
            <a:r>
              <a:rPr sz="2400" b="1" dirty="0">
                <a:solidFill>
                  <a:srgbClr val="1E2761"/>
                </a:solidFill>
                <a:latin typeface="Calibri"/>
              </a:rPr>
              <a:t>Kompleksan </a:t>
            </a:r>
            <a:r>
              <a:rPr sz="2400" b="1" dirty="0" smtClean="0">
                <a:solidFill>
                  <a:srgbClr val="1E2761"/>
                </a:solidFill>
                <a:latin typeface="Calibri"/>
              </a:rPr>
              <a:t>napon</a:t>
            </a:r>
            <a:r>
              <a:rPr lang="bs-Latn-BA" sz="2400" b="1" dirty="0" smtClean="0">
                <a:solidFill>
                  <a:srgbClr val="1E2761"/>
                </a:solidFill>
                <a:latin typeface="Calibri"/>
              </a:rPr>
              <a:t> </a:t>
            </a:r>
            <a:r>
              <a:rPr sz="2400" dirty="0" smtClean="0">
                <a:solidFill>
                  <a:srgbClr val="363636"/>
                </a:solidFill>
                <a:latin typeface="Calibri"/>
              </a:rPr>
              <a:t>Fazor </a:t>
            </a:r>
            <a:r>
              <a:rPr sz="2400" dirty="0">
                <a:solidFill>
                  <a:srgbClr val="363636"/>
                </a:solidFill>
                <a:latin typeface="Calibri"/>
              </a:rPr>
              <a:t>napona je prirodno kompleksan: V = V_re + i·V_im</a:t>
            </a:r>
          </a:p>
          <a:p>
            <a:pPr marL="274638" indent="-274638">
              <a:lnSpc>
                <a:spcPct val="110000"/>
              </a:lnSpc>
              <a:spcAft>
                <a:spcPts val="1600"/>
              </a:spcAft>
              <a:buClr>
                <a:srgbClr val="1E2761"/>
              </a:buClr>
              <a:buFont typeface="Arial"/>
              <a:buChar char="•"/>
            </a:pPr>
            <a:r>
              <a:rPr sz="2400" b="1" dirty="0" smtClean="0">
                <a:solidFill>
                  <a:srgbClr val="1E2761"/>
                </a:solidFill>
                <a:latin typeface="Calibri"/>
              </a:rPr>
              <a:t>Problem</a:t>
            </a:r>
            <a:r>
              <a:rPr lang="bs-Latn-BA" sz="2400" b="1" dirty="0" smtClean="0">
                <a:solidFill>
                  <a:srgbClr val="1E2761"/>
                </a:solidFill>
                <a:latin typeface="Calibri"/>
              </a:rPr>
              <a:t> </a:t>
            </a:r>
            <a:r>
              <a:rPr sz="2400" dirty="0" smtClean="0">
                <a:solidFill>
                  <a:srgbClr val="363636"/>
                </a:solidFill>
                <a:latin typeface="Calibri"/>
              </a:rPr>
              <a:t>Mjerenja </a:t>
            </a:r>
            <a:r>
              <a:rPr sz="2400" dirty="0">
                <a:solidFill>
                  <a:srgbClr val="363636"/>
                </a:solidFill>
                <a:latin typeface="Calibri"/>
              </a:rPr>
              <a:t>P, Q, |V| su realne funkcije od V i konjugata V̄ → nisu analitičke (holomorfne) u V</a:t>
            </a:r>
          </a:p>
          <a:p>
            <a:pPr marL="274638" indent="-274638">
              <a:lnSpc>
                <a:spcPct val="110000"/>
              </a:lnSpc>
              <a:spcAft>
                <a:spcPts val="1600"/>
              </a:spcAft>
              <a:buClr>
                <a:srgbClr val="1E2761"/>
              </a:buClr>
              <a:buFont typeface="Arial"/>
              <a:buChar char="•"/>
            </a:pPr>
            <a:r>
              <a:rPr sz="2400" b="1" dirty="0" smtClean="0">
                <a:solidFill>
                  <a:srgbClr val="1E2761"/>
                </a:solidFill>
                <a:latin typeface="Calibri"/>
              </a:rPr>
              <a:t>Posljedica</a:t>
            </a:r>
            <a:r>
              <a:rPr lang="bs-Latn-BA" sz="2400" b="1" dirty="0" smtClean="0">
                <a:solidFill>
                  <a:srgbClr val="1E2761"/>
                </a:solidFill>
                <a:latin typeface="Calibri"/>
              </a:rPr>
              <a:t> </a:t>
            </a:r>
            <a:r>
              <a:rPr sz="2400" dirty="0" smtClean="0">
                <a:solidFill>
                  <a:srgbClr val="363636"/>
                </a:solidFill>
                <a:latin typeface="Calibri"/>
              </a:rPr>
              <a:t>Ne </a:t>
            </a:r>
            <a:r>
              <a:rPr sz="2400" dirty="0">
                <a:solidFill>
                  <a:srgbClr val="363636"/>
                </a:solidFill>
                <a:latin typeface="Calibri"/>
              </a:rPr>
              <a:t>postoji Taylorov red isključivo po V – klasičan izvod nije definisan</a:t>
            </a:r>
          </a:p>
          <a:p>
            <a:pPr marL="274638" indent="-274638">
              <a:lnSpc>
                <a:spcPct val="110000"/>
              </a:lnSpc>
              <a:spcAft>
                <a:spcPts val="1600"/>
              </a:spcAft>
              <a:buClr>
                <a:srgbClr val="1E2761"/>
              </a:buClr>
              <a:buFont typeface="Arial"/>
              <a:buChar char="•"/>
            </a:pPr>
            <a:r>
              <a:rPr sz="2400" b="1" dirty="0">
                <a:solidFill>
                  <a:srgbClr val="1E2761"/>
                </a:solidFill>
                <a:latin typeface="Calibri"/>
              </a:rPr>
              <a:t>Wirtinger (1927</a:t>
            </a:r>
            <a:r>
              <a:rPr sz="2400" b="1" dirty="0" smtClean="0">
                <a:solidFill>
                  <a:srgbClr val="1E2761"/>
                </a:solidFill>
                <a:latin typeface="Calibri"/>
              </a:rPr>
              <a:t>)</a:t>
            </a:r>
            <a:r>
              <a:rPr lang="bs-Latn-BA" sz="2400" b="1" dirty="0" smtClean="0">
                <a:solidFill>
                  <a:srgbClr val="1E2761"/>
                </a:solidFill>
                <a:latin typeface="Calibri"/>
              </a:rPr>
              <a:t> </a:t>
            </a:r>
            <a:r>
              <a:rPr sz="2400" dirty="0" smtClean="0">
                <a:solidFill>
                  <a:srgbClr val="363636"/>
                </a:solidFill>
                <a:latin typeface="Calibri"/>
              </a:rPr>
              <a:t>V </a:t>
            </a:r>
            <a:r>
              <a:rPr sz="2400" dirty="0">
                <a:solidFill>
                  <a:srgbClr val="363636"/>
                </a:solidFill>
                <a:latin typeface="Calibri"/>
              </a:rPr>
              <a:t>i V̄ se tretiraju kao formalno nezavisne promjenljive → definisu se dva parcijalna izvoda</a:t>
            </a:r>
          </a:p>
        </p:txBody>
      </p:sp>
    </p:spTree>
    <p:extLst>
      <p:ext uri="{BB962C8B-B14F-4D97-AF65-F5344CB8AC3E}">
        <p14:creationId xmlns:p14="http://schemas.microsoft.com/office/powerpoint/2010/main" val="427184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90951" y="488732"/>
            <a:ext cx="7699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s-Latn-BA" sz="4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Kompleksni</a:t>
            </a:r>
            <a:r>
              <a:rPr kumimoji="0" lang="bs-Latn-BA" sz="40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Gauss-Newton (WLS)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97612" y="1928754"/>
            <a:ext cx="9328457" cy="3370153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74638" marR="0" lvl="0" indent="-274638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lr>
                <a:srgbClr val="1E2761"/>
              </a:buClr>
              <a:buSzTx/>
              <a:buFont typeface="Arial"/>
              <a:buChar char="•"/>
              <a:tabLst/>
              <a:defRPr/>
            </a:pPr>
            <a:r>
              <a:rPr kumimoji="0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Postavka</a:t>
            </a:r>
            <a:r>
              <a:rPr kumimoji="0" lang="bs-Latn-BA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Linearizacija mjerne funkcije h(V) oko trenutne procjene + minimizacija težinskih najmanjih kvadrata (WLS)</a:t>
            </a:r>
          </a:p>
          <a:p>
            <a:pPr marL="274638" marR="0" lvl="0" indent="-274638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lr>
                <a:srgbClr val="1E2761"/>
              </a:buClr>
              <a:buSzTx/>
              <a:buFont typeface="Arial"/>
              <a:buChar char="•"/>
              <a:tabLst/>
              <a:defRPr/>
            </a:pPr>
            <a:r>
              <a:rPr kumimoji="0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Opšti slučaj (SCADA)</a:t>
            </a:r>
            <a:r>
              <a:rPr kumimoji="0" lang="bs-Latn-BA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Mjerenja P, Q, |V| su nelinearna → koristi se konjugovani Jakobijan ∂h/∂V̄</a:t>
            </a:r>
          </a:p>
          <a:p>
            <a:pPr marL="274638" marR="0" lvl="0" indent="-274638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lr>
                <a:srgbClr val="1E2761"/>
              </a:buClr>
              <a:buSzTx/>
              <a:buFont typeface="Arial"/>
              <a:buChar char="•"/>
              <a:tabLst/>
              <a:defRPr/>
            </a:pPr>
            <a:r>
              <a:rPr kumimoji="0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Specijalni slučaj (PMU)</a:t>
            </a:r>
            <a:r>
              <a:rPr kumimoji="0" lang="bs-Latn-BA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Fazorska mjerenja su linearna (holomorfna) → ∂h/∂V̄ = 0, koristi se običan Jakobijan ∂h/∂V</a:t>
            </a:r>
          </a:p>
          <a:p>
            <a:pPr marL="274638" marR="0" lvl="0" indent="-274638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lr>
                <a:srgbClr val="1E2761"/>
              </a:buClr>
              <a:buSzTx/>
              <a:buFont typeface="Arial"/>
              <a:buChar char="•"/>
              <a:tabLst/>
              <a:defRPr/>
            </a:pPr>
            <a:r>
              <a:rPr kumimoji="0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Posljedica</a:t>
            </a:r>
            <a:r>
              <a:rPr kumimoji="0" lang="bs-Latn-BA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Jakobijan je konstantan (ne zavisi od V) → PMU-only sistem konvergira u tačno jednoj iteraciji</a:t>
            </a:r>
          </a:p>
        </p:txBody>
      </p:sp>
    </p:spTree>
    <p:extLst>
      <p:ext uri="{BB962C8B-B14F-4D97-AF65-F5344CB8AC3E}">
        <p14:creationId xmlns:p14="http://schemas.microsoft.com/office/powerpoint/2010/main" val="2857760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241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Implementacija estimacije stanja: kompleksne koordinate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Implementacija estimacije stanja: kompleksne koordinate</dc:title>
  <dc:creator>Vedad Mulaosmanovic</dc:creator>
  <cp:lastModifiedBy>Vedad Mulaosmanovic</cp:lastModifiedBy>
  <cp:revision>5</cp:revision>
  <dcterms:created xsi:type="dcterms:W3CDTF">2026-07-06T15:54:49Z</dcterms:created>
  <dcterms:modified xsi:type="dcterms:W3CDTF">2026-07-06T18:01:35Z</dcterms:modified>
</cp:coreProperties>
</file>